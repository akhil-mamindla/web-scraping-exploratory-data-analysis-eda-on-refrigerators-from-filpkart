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60" r:id="rId3"/>
    <p:sldId id="261" r:id="rId4"/>
    <p:sldId id="263" r:id="rId5"/>
    <p:sldId id="262" r:id="rId6"/>
    <p:sldId id="264" r:id="rId7"/>
    <p:sldId id="265" r:id="rId8"/>
    <p:sldId id="266" r:id="rId9"/>
    <p:sldId id="267" r:id="rId10"/>
    <p:sldId id="268" r:id="rId11"/>
    <p:sldId id="269" r:id="rId12"/>
    <p:sldId id="270" r:id="rId13"/>
    <p:sldId id="271" r:id="rId14"/>
    <p:sldId id="272" r:id="rId15"/>
    <p:sldId id="278" r:id="rId16"/>
    <p:sldId id="273" r:id="rId17"/>
    <p:sldId id="275" r:id="rId18"/>
    <p:sldId id="274" r:id="rId19"/>
    <p:sldId id="277" r:id="rId20"/>
    <p:sldId id="276" r:id="rId21"/>
    <p:sldId id="259" r:id="rId22"/>
  </p:sldIdLst>
  <p:sldSz cx="12192000" cy="6858000"/>
  <p:notesSz cx="6858000" cy="9144000"/>
  <p:embeddedFontLst>
    <p:embeddedFont>
      <p:font typeface="Arial Black" panose="020B0A04020102020204" pitchFamily="34" charset="0"/>
      <p:bold r:id="rId24"/>
    </p:embeddedFont>
    <p:embeddedFont>
      <p:font typeface="Baskerville Old Face" panose="02020602080505020303" pitchFamily="18" charset="0"/>
      <p:regular r:id="rId25"/>
    </p:embeddedFont>
    <p:embeddedFont>
      <p:font typeface="Libre Baskerville" panose="02000000000000000000" pitchFamily="2" charset="0"/>
      <p:regular r:id="rId26"/>
      <p:bold r:id="rId27"/>
      <p: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34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5"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806817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96446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8</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70442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859082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flipkart.com/search?q=refrigerator&amp;sid=j9e,abm,hzg&amp;as=on&amp;as-show=on&amp;otracker=AS_QueryStore_HistoryAutoSuggest_1_2_na_na_na&amp;otracker1=AS_QueryStore_HistoryAutoSuggest_1_2_na_na_na&amp;as-pos=1&amp;as-type=HISTORY&amp;suggestionId=refrigerator|Refrigerators&amp;requestId=acf9e1a8-1ec1-4379-9514-10188d331578&amp;as-searchtext=re&amp;page=2"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hemeOverride" Target="../theme/themeOverride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9144"/>
            <a:ext cx="12190815" cy="6694098"/>
          </a:xfrm>
          <a:prstGeom prst="rect">
            <a:avLst/>
          </a:prstGeom>
          <a:noFill/>
          <a:ln>
            <a:noFill/>
          </a:ln>
        </p:spPr>
      </p:pic>
      <p:sp>
        <p:nvSpPr>
          <p:cNvPr id="99" name="Google Shape;99;p1"/>
          <p:cNvSpPr txBox="1"/>
          <p:nvPr/>
        </p:nvSpPr>
        <p:spPr>
          <a:xfrm>
            <a:off x="2148840" y="4019738"/>
            <a:ext cx="8174735" cy="461624"/>
          </a:xfrm>
          <a:prstGeom prst="rect">
            <a:avLst/>
          </a:prstGeom>
          <a:noFill/>
          <a:ln>
            <a:noFill/>
          </a:ln>
          <a:effectLst>
            <a:outerShdw blurRad="50800" dist="38100" dir="16200000" rotWithShape="0">
              <a:prstClr val="black">
                <a:alpha val="40000"/>
              </a:prstClr>
            </a:outerShdw>
          </a:effectLst>
        </p:spPr>
        <p:style>
          <a:lnRef idx="0">
            <a:scrgbClr r="0" g="0" b="0"/>
          </a:lnRef>
          <a:fillRef idx="1003">
            <a:schemeClr val="lt2"/>
          </a:fillRef>
          <a:effectRef idx="0">
            <a:scrgbClr r="0" g="0" b="0"/>
          </a:effectRef>
          <a:fontRef idx="major"/>
        </p:style>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2400" b="1" dirty="0">
                <a:latin typeface="Baskerville Old Face" panose="02020602080505020303" pitchFamily="18" charset="0"/>
              </a:rPr>
              <a:t>Web Scraping &amp; Exploratory Data Analysis(EDA) on </a:t>
            </a:r>
            <a:endParaRPr lang="en-IN" sz="2400" b="1" i="0" u="none" strike="noStrike" cap="none" dirty="0">
              <a:solidFill>
                <a:srgbClr val="000000"/>
              </a:solidFill>
              <a:latin typeface="Baskerville Old Face" panose="02020602080505020303" pitchFamily="18" charset="0"/>
              <a:sym typeface="Arial"/>
            </a:endParaRPr>
          </a:p>
        </p:txBody>
      </p:sp>
      <p:sp>
        <p:nvSpPr>
          <p:cNvPr id="2" name="TextBox 1"/>
          <p:cNvSpPr txBox="1"/>
          <p:nvPr/>
        </p:nvSpPr>
        <p:spPr>
          <a:xfrm>
            <a:off x="3374136" y="4608576"/>
            <a:ext cx="5678424"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IN" sz="3600" b="1" dirty="0">
                <a:latin typeface="Baskerville Old Face" panose="02020602080505020303" pitchFamily="18" charset="0"/>
                <a:ea typeface="+mj-ea"/>
                <a:cs typeface="+mj-cs"/>
              </a:rPr>
              <a:t>Refrigerators</a:t>
            </a:r>
            <a:r>
              <a:rPr lang="en-IN" sz="3600" dirty="0">
                <a:latin typeface="Baskerville Old Face" panose="02020602080505020303" pitchFamily="18" charset="0"/>
              </a:rPr>
              <a:t> </a:t>
            </a:r>
            <a:r>
              <a:rPr lang="en-IN" sz="3600" b="1" dirty="0">
                <a:latin typeface="Baskerville Old Face" panose="02020602080505020303" pitchFamily="18" charset="0"/>
                <a:ea typeface="+mj-ea"/>
                <a:cs typeface="+mj-cs"/>
              </a:rPr>
              <a:t>from</a:t>
            </a:r>
            <a:r>
              <a:rPr lang="en-IN" sz="3600" dirty="0">
                <a:latin typeface="Baskerville Old Face" panose="02020602080505020303" pitchFamily="18" charset="0"/>
              </a:rPr>
              <a:t> </a:t>
            </a:r>
            <a:r>
              <a:rPr lang="en-IN" sz="3600" b="1" dirty="0">
                <a:latin typeface="Baskerville Old Face" panose="02020602080505020303" pitchFamily="18" charset="0"/>
                <a:ea typeface="+mj-ea"/>
                <a:cs typeface="+mj-cs"/>
              </a:rPr>
              <a:t>Filpkart</a:t>
            </a:r>
          </a:p>
        </p:txBody>
      </p:sp>
      <p:sp>
        <p:nvSpPr>
          <p:cNvPr id="3" name="TextBox 2"/>
          <p:cNvSpPr txBox="1"/>
          <p:nvPr/>
        </p:nvSpPr>
        <p:spPr>
          <a:xfrm>
            <a:off x="9180576" y="5102352"/>
            <a:ext cx="2898648" cy="1015663"/>
          </a:xfrm>
          <a:prstGeom prst="rect">
            <a:avLst/>
          </a:prstGeom>
          <a:noFill/>
        </p:spPr>
        <p:txBody>
          <a:bodyPr wrap="square" rtlCol="0">
            <a:spAutoFit/>
          </a:bodyPr>
          <a:lstStyle/>
          <a:p>
            <a:r>
              <a:rPr lang="en-IN" sz="2000" dirty="0">
                <a:latin typeface="Baskerville Old Face" panose="02020602080505020303" pitchFamily="18" charset="0"/>
              </a:rPr>
              <a:t>M. Akhil</a:t>
            </a:r>
          </a:p>
          <a:p>
            <a:r>
              <a:rPr lang="en-IN" sz="2000" dirty="0">
                <a:latin typeface="Baskerville Old Face" panose="02020602080505020303" pitchFamily="18" charset="0"/>
              </a:rPr>
              <a:t>G. Chandrakanth</a:t>
            </a:r>
          </a:p>
          <a:p>
            <a:r>
              <a:rPr lang="en-IN" sz="2000" dirty="0">
                <a:latin typeface="Baskerville Old Face" panose="02020602080505020303" pitchFamily="18" charset="0"/>
              </a:rPr>
              <a:t>G. Shivakumar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173101"/>
            <a:ext cx="8266176" cy="750443"/>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IN" sz="2800" dirty="0">
                <a:solidFill>
                  <a:schemeClr val="accent5">
                    <a:lumMod val="50000"/>
                  </a:schemeClr>
                </a:solidFill>
                <a:latin typeface="Arial Black" panose="020B0A04020102020204" pitchFamily="34" charset="0"/>
              </a:rPr>
              <a:t>What is Web Scraping ? How it works ?</a:t>
            </a:r>
          </a:p>
        </p:txBody>
      </p:sp>
      <p:sp>
        <p:nvSpPr>
          <p:cNvPr id="3" name="Text Placeholder 2"/>
          <p:cNvSpPr>
            <a:spLocks noGrp="1"/>
          </p:cNvSpPr>
          <p:nvPr>
            <p:ph type="body" idx="1"/>
          </p:nvPr>
        </p:nvSpPr>
        <p:spPr>
          <a:xfrm>
            <a:off x="838200" y="1197864"/>
            <a:ext cx="9814560" cy="4979099"/>
          </a:xfrm>
        </p:spPr>
        <p:txBody>
          <a:bodyPr>
            <a:normAutofit/>
          </a:bodyPr>
          <a:lstStyle/>
          <a:p>
            <a:r>
              <a:rPr lang="en-US" sz="2400" dirty="0">
                <a:latin typeface="Times New Roman" panose="02020603050405020304" pitchFamily="18" charset="0"/>
                <a:cs typeface="Times New Roman" panose="02020603050405020304" pitchFamily="18" charset="0"/>
              </a:rPr>
              <a:t>Web Scraping is the process of automatically extracting data from websites using software or scripts.</a:t>
            </a:r>
          </a:p>
          <a:p>
            <a:r>
              <a:rPr lang="en-US" sz="2400" dirty="0">
                <a:latin typeface="Times New Roman" panose="02020603050405020304" pitchFamily="18" charset="0"/>
                <a:cs typeface="Times New Roman" panose="02020603050405020304" pitchFamily="18" charset="0"/>
              </a:rPr>
              <a:t>Instead of manually copying information, web scraping tools collect large amounts of online data quickly and convert it into a structured format such as Excel, CSV, or a database.</a:t>
            </a:r>
          </a:p>
          <a:p>
            <a:r>
              <a:rPr lang="en-US" b="1" u="sng" dirty="0">
                <a:latin typeface="Calibri" panose="020F0502020204030204" pitchFamily="34" charset="0"/>
                <a:ea typeface="Calibri" panose="020F0502020204030204" pitchFamily="34" charset="0"/>
                <a:cs typeface="Calibri" panose="020F0502020204030204" pitchFamily="34" charset="0"/>
              </a:rPr>
              <a:t>How it works </a:t>
            </a:r>
          </a:p>
          <a:p>
            <a:r>
              <a:rPr lang="en-US" sz="2400" dirty="0">
                <a:latin typeface="Times New Roman" panose="02020603050405020304" pitchFamily="18" charset="0"/>
                <a:ea typeface="Calibri" panose="020F0502020204030204" pitchFamily="34" charset="0"/>
                <a:cs typeface="Times New Roman" panose="02020603050405020304" pitchFamily="18" charset="0"/>
              </a:rPr>
              <a:t>Sends</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sz="2400" dirty="0">
                <a:latin typeface="Times New Roman" panose="02020603050405020304" pitchFamily="18" charset="0"/>
                <a:ea typeface="Calibri" panose="020F0502020204030204" pitchFamily="34" charset="0"/>
                <a:cs typeface="Times New Roman" panose="02020603050405020304" pitchFamily="18" charset="0"/>
              </a:rPr>
              <a:t>a request to web page</a:t>
            </a:r>
          </a:p>
          <a:p>
            <a:r>
              <a:rPr lang="en-US" sz="2400" dirty="0">
                <a:latin typeface="Times New Roman" panose="02020603050405020304" pitchFamily="18" charset="0"/>
                <a:ea typeface="Calibri" panose="020F0502020204030204" pitchFamily="34" charset="0"/>
                <a:cs typeface="Times New Roman" panose="02020603050405020304" pitchFamily="18" charset="0"/>
              </a:rPr>
              <a:t>Download the HTML webpage</a:t>
            </a:r>
          </a:p>
          <a:p>
            <a:r>
              <a:rPr lang="en-US" sz="2400" dirty="0">
                <a:latin typeface="Times New Roman" panose="02020603050405020304" pitchFamily="18" charset="0"/>
                <a:ea typeface="Calibri" panose="020F0502020204030204" pitchFamily="34" charset="0"/>
                <a:cs typeface="Times New Roman" panose="02020603050405020304" pitchFamily="18" charset="0"/>
              </a:rPr>
              <a:t>Extracting  required data from webpage</a:t>
            </a:r>
          </a:p>
          <a:p>
            <a:r>
              <a:rPr lang="en-US" sz="2400" dirty="0">
                <a:latin typeface="Times New Roman" panose="02020603050405020304" pitchFamily="18" charset="0"/>
                <a:ea typeface="Calibri" panose="020F0502020204030204" pitchFamily="34" charset="0"/>
                <a:cs typeface="Times New Roman" panose="02020603050405020304" pitchFamily="18" charset="0"/>
              </a:rPr>
              <a:t>Save the data for analysis</a:t>
            </a:r>
            <a:endParaRPr lang="en-US"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18011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5397"/>
            <a:ext cx="10515600" cy="695579"/>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IN" sz="2800" dirty="0">
                <a:solidFill>
                  <a:schemeClr val="accent5">
                    <a:lumMod val="50000"/>
                  </a:schemeClr>
                </a:solidFill>
                <a:latin typeface="Arial Black" panose="020B0A04020102020204" pitchFamily="34" charset="0"/>
              </a:rPr>
              <a:t>Objective</a:t>
            </a:r>
          </a:p>
        </p:txBody>
      </p:sp>
      <p:sp>
        <p:nvSpPr>
          <p:cNvPr id="3" name="Text Placeholder 2"/>
          <p:cNvSpPr>
            <a:spLocks noGrp="1"/>
          </p:cNvSpPr>
          <p:nvPr>
            <p:ph type="body" idx="1"/>
          </p:nvPr>
        </p:nvSpPr>
        <p:spPr>
          <a:xfrm>
            <a:off x="774192" y="1075816"/>
            <a:ext cx="10207752" cy="4721479"/>
          </a:xfrm>
        </p:spPr>
        <p:txBody>
          <a:bodyPr>
            <a:normAutofit/>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To extract refrigerator product data such as brand, price, ratings, capacity, and Stars, Doors from Flipkart using web scraping techniques.</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To automate data collection from multiple product pages and convert unstructured web data into a structured dataset.</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To clean and preprocess the scraped data by handling missing values, removing special characters, and standardizing formats. To perform exploratory data analysis (EDA) to identify price trends, popular brands, and feature distribution among refrigerators.</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To demonstrate the use of Python libraries like BeautifulSoup, Requests, Pandas, and Matplotlib/</a:t>
            </a:r>
            <a:r>
              <a:rPr lang="en-US" sz="2400" dirty="0" err="1">
                <a:latin typeface="Times New Roman" panose="02020603050405020304" pitchFamily="18" charset="0"/>
                <a:cs typeface="Times New Roman" panose="02020603050405020304" pitchFamily="18" charset="0"/>
              </a:rPr>
              <a:t>Seaborn</a:t>
            </a:r>
            <a:r>
              <a:rPr lang="en-US" sz="2400" dirty="0">
                <a:latin typeface="Times New Roman" panose="02020603050405020304" pitchFamily="18" charset="0"/>
                <a:cs typeface="Times New Roman" panose="02020603050405020304" pitchFamily="18" charset="0"/>
              </a:rPr>
              <a:t> for real-time data extraction and analysis.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6748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8821"/>
            <a:ext cx="3633216" cy="549275"/>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IN" sz="2800" dirty="0">
                <a:solidFill>
                  <a:schemeClr val="accent5">
                    <a:lumMod val="50000"/>
                  </a:schemeClr>
                </a:solidFill>
                <a:latin typeface="Arial Black" panose="020B0A04020102020204" pitchFamily="34" charset="0"/>
              </a:rPr>
              <a:t>Website</a:t>
            </a:r>
          </a:p>
        </p:txBody>
      </p:sp>
      <p:sp>
        <p:nvSpPr>
          <p:cNvPr id="3" name="Text Placeholder 2"/>
          <p:cNvSpPr>
            <a:spLocks noGrp="1"/>
          </p:cNvSpPr>
          <p:nvPr>
            <p:ph type="body" idx="1"/>
          </p:nvPr>
        </p:nvSpPr>
        <p:spPr>
          <a:xfrm>
            <a:off x="838200" y="672094"/>
            <a:ext cx="10515600" cy="521208"/>
          </a:xfrm>
        </p:spPr>
        <p:txBody>
          <a:bodyPr>
            <a:normAutofit/>
          </a:bodyPr>
          <a:lstStyle/>
          <a:p>
            <a:r>
              <a:rPr lang="en-IN" sz="1600" dirty="0">
                <a:latin typeface="Times New Roman" panose="02020603050405020304" pitchFamily="18" charset="0"/>
                <a:cs typeface="Times New Roman" panose="02020603050405020304" pitchFamily="18" charset="0"/>
              </a:rPr>
              <a:t>Link- </a:t>
            </a:r>
            <a:r>
              <a:rPr lang="en-US" sz="1600" dirty="0">
                <a:latin typeface="Times New Roman" panose="02020603050405020304" pitchFamily="18" charset="0"/>
                <a:cs typeface="Times New Roman" panose="02020603050405020304" pitchFamily="18" charset="0"/>
                <a:hlinkClick r:id="rId2"/>
              </a:rPr>
              <a:t>Refrigerator- Buy Products Online at Best Price in India - All Categories | Flipkart.com</a:t>
            </a:r>
            <a:endParaRPr lang="en-IN" sz="16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193302"/>
            <a:ext cx="10058400" cy="5544676"/>
          </a:xfrm>
          <a:prstGeom prst="rect">
            <a:avLst/>
          </a:prstGeom>
        </p:spPr>
      </p:pic>
    </p:spTree>
    <p:extLst>
      <p:ext uri="{BB962C8B-B14F-4D97-AF65-F5344CB8AC3E}">
        <p14:creationId xmlns:p14="http://schemas.microsoft.com/office/powerpoint/2010/main" val="446927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464" y="157453"/>
            <a:ext cx="7466814" cy="775801"/>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IN" sz="2800" dirty="0">
                <a:solidFill>
                  <a:schemeClr val="accent5">
                    <a:lumMod val="50000"/>
                  </a:schemeClr>
                </a:solidFill>
                <a:latin typeface="Arial Black" panose="020B0A04020102020204" pitchFamily="34" charset="0"/>
              </a:rPr>
              <a:t>Extracting data for webpage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357" y="933254"/>
            <a:ext cx="5987199" cy="5128181"/>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78091" y="933254"/>
            <a:ext cx="4915586" cy="2295427"/>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68006" y="3776472"/>
            <a:ext cx="7804140" cy="2404872"/>
          </a:xfrm>
          <a:prstGeom prst="rect">
            <a:avLst/>
          </a:prstGeom>
        </p:spPr>
      </p:pic>
    </p:spTree>
    <p:extLst>
      <p:ext uri="{BB962C8B-B14F-4D97-AF65-F5344CB8AC3E}">
        <p14:creationId xmlns:p14="http://schemas.microsoft.com/office/powerpoint/2010/main" val="418135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9288" y="200533"/>
            <a:ext cx="4501896" cy="649859"/>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IN" sz="2800" dirty="0">
                <a:solidFill>
                  <a:schemeClr val="accent5">
                    <a:lumMod val="50000"/>
                  </a:schemeClr>
                </a:solidFill>
                <a:latin typeface="Arial Black" panose="020B0A04020102020204" pitchFamily="34" charset="0"/>
              </a:rPr>
              <a:t>Data set Overview</a:t>
            </a:r>
          </a:p>
        </p:txBody>
      </p:sp>
      <p:sp>
        <p:nvSpPr>
          <p:cNvPr id="3" name="Text Placeholder 2"/>
          <p:cNvSpPr>
            <a:spLocks noGrp="1"/>
          </p:cNvSpPr>
          <p:nvPr>
            <p:ph type="body" idx="1"/>
          </p:nvPr>
        </p:nvSpPr>
        <p:spPr>
          <a:xfrm>
            <a:off x="838200" y="978408"/>
            <a:ext cx="10515600" cy="5198555"/>
          </a:xfrm>
        </p:spPr>
        <p:txBody>
          <a:bodyPr>
            <a:noAutofit/>
          </a:bodyPr>
          <a:lstStyle/>
          <a:p>
            <a:pPr marL="183515" indent="-170815">
              <a:lnSpc>
                <a:spcPct val="100000"/>
              </a:lnSpc>
              <a:spcBef>
                <a:spcPts val="105"/>
              </a:spcBef>
              <a:buFont typeface="Arial MT"/>
              <a:buChar char="•"/>
              <a:tabLst>
                <a:tab pos="183515" algn="l"/>
                <a:tab pos="6834505" algn="l"/>
              </a:tabLst>
            </a:pPr>
            <a:r>
              <a:rPr lang="en-IN" sz="2400" dirty="0">
                <a:latin typeface="Times New Roman"/>
                <a:cs typeface="Times New Roman"/>
              </a:rPr>
              <a:t>The</a:t>
            </a:r>
            <a:r>
              <a:rPr lang="en-IN" sz="2400" spc="-10" dirty="0">
                <a:latin typeface="Times New Roman"/>
                <a:cs typeface="Times New Roman"/>
              </a:rPr>
              <a:t> </a:t>
            </a:r>
            <a:r>
              <a:rPr lang="en-IN" sz="2400" dirty="0">
                <a:latin typeface="Times New Roman"/>
                <a:cs typeface="Times New Roman"/>
              </a:rPr>
              <a:t>dataset</a:t>
            </a:r>
            <a:r>
              <a:rPr lang="en-IN" sz="2400" spc="-35" dirty="0">
                <a:latin typeface="Times New Roman"/>
                <a:cs typeface="Times New Roman"/>
              </a:rPr>
              <a:t> </a:t>
            </a:r>
            <a:r>
              <a:rPr lang="en-IN" sz="2400" dirty="0">
                <a:latin typeface="Times New Roman"/>
                <a:cs typeface="Times New Roman"/>
              </a:rPr>
              <a:t>contains</a:t>
            </a:r>
            <a:r>
              <a:rPr lang="en-IN" sz="2400" spc="-45" dirty="0">
                <a:latin typeface="Times New Roman"/>
                <a:cs typeface="Times New Roman"/>
              </a:rPr>
              <a:t> 984</a:t>
            </a:r>
            <a:r>
              <a:rPr lang="en-IN" sz="2400" spc="-30" dirty="0">
                <a:latin typeface="Times New Roman"/>
                <a:cs typeface="Times New Roman"/>
              </a:rPr>
              <a:t> </a:t>
            </a:r>
            <a:r>
              <a:rPr lang="en-IN" sz="2400" dirty="0">
                <a:latin typeface="Times New Roman"/>
                <a:cs typeface="Times New Roman"/>
              </a:rPr>
              <a:t>rows</a:t>
            </a:r>
            <a:r>
              <a:rPr lang="en-IN" sz="2400" spc="-30" dirty="0">
                <a:latin typeface="Times New Roman"/>
                <a:cs typeface="Times New Roman"/>
              </a:rPr>
              <a:t> </a:t>
            </a:r>
            <a:r>
              <a:rPr lang="en-IN" sz="2400" dirty="0">
                <a:latin typeface="Times New Roman"/>
                <a:cs typeface="Times New Roman"/>
              </a:rPr>
              <a:t>and</a:t>
            </a:r>
            <a:r>
              <a:rPr lang="en-IN" sz="2400" spc="-20" dirty="0">
                <a:latin typeface="Times New Roman"/>
                <a:cs typeface="Times New Roman"/>
              </a:rPr>
              <a:t> </a:t>
            </a:r>
            <a:r>
              <a:rPr lang="en-IN" sz="2400" dirty="0">
                <a:latin typeface="Times New Roman"/>
                <a:cs typeface="Times New Roman"/>
              </a:rPr>
              <a:t>6</a:t>
            </a:r>
            <a:r>
              <a:rPr lang="en-IN" sz="2400" spc="-20" dirty="0">
                <a:latin typeface="Times New Roman"/>
                <a:cs typeface="Times New Roman"/>
              </a:rPr>
              <a:t> </a:t>
            </a:r>
            <a:r>
              <a:rPr lang="en-IN" sz="2400" dirty="0">
                <a:latin typeface="Times New Roman"/>
                <a:cs typeface="Times New Roman"/>
              </a:rPr>
              <a:t>columns</a:t>
            </a:r>
            <a:r>
              <a:rPr lang="en-IN" sz="2400" spc="-25" dirty="0">
                <a:latin typeface="Times New Roman"/>
                <a:cs typeface="Times New Roman"/>
              </a:rPr>
              <a:t> </a:t>
            </a:r>
            <a:r>
              <a:rPr lang="en-IN" sz="2400" dirty="0">
                <a:latin typeface="Times New Roman"/>
                <a:cs typeface="Times New Roman"/>
              </a:rPr>
              <a:t>which</a:t>
            </a:r>
            <a:r>
              <a:rPr lang="en-IN" sz="2400" spc="-20" dirty="0">
                <a:latin typeface="Times New Roman"/>
                <a:cs typeface="Times New Roman"/>
              </a:rPr>
              <a:t> </a:t>
            </a:r>
            <a:r>
              <a:rPr lang="en-IN" sz="2400" spc="-10" dirty="0">
                <a:latin typeface="Times New Roman"/>
                <a:cs typeface="Times New Roman"/>
              </a:rPr>
              <a:t>contains</a:t>
            </a:r>
            <a:r>
              <a:rPr lang="en-IN" sz="2400" dirty="0">
                <a:latin typeface="Times New Roman"/>
                <a:cs typeface="Times New Roman"/>
              </a:rPr>
              <a:t> information</a:t>
            </a:r>
            <a:r>
              <a:rPr lang="en-IN" sz="2400" spc="-60" dirty="0">
                <a:latin typeface="Times New Roman"/>
                <a:cs typeface="Times New Roman"/>
              </a:rPr>
              <a:t> </a:t>
            </a:r>
            <a:r>
              <a:rPr lang="en-IN" sz="2400" dirty="0">
                <a:latin typeface="Times New Roman"/>
                <a:cs typeface="Times New Roman"/>
              </a:rPr>
              <a:t>about</a:t>
            </a:r>
            <a:r>
              <a:rPr lang="en-IN" sz="2400" spc="-40" dirty="0">
                <a:latin typeface="Times New Roman"/>
                <a:cs typeface="Times New Roman"/>
              </a:rPr>
              <a:t> </a:t>
            </a:r>
            <a:r>
              <a:rPr lang="en-IN" sz="2400" dirty="0">
                <a:latin typeface="Times New Roman"/>
                <a:cs typeface="Times New Roman"/>
              </a:rPr>
              <a:t>Refrigerators</a:t>
            </a:r>
            <a:r>
              <a:rPr lang="en-IN" sz="2400" spc="-10" dirty="0">
                <a:latin typeface="Times New Roman"/>
                <a:cs typeface="Times New Roman"/>
              </a:rPr>
              <a:t>.</a:t>
            </a:r>
            <a:endParaRPr lang="en-IN" sz="2400" dirty="0">
              <a:latin typeface="Times New Roman"/>
              <a:cs typeface="Times New Roman"/>
            </a:endParaRPr>
          </a:p>
          <a:p>
            <a:pPr marL="182880" marR="5080" indent="-170815">
              <a:lnSpc>
                <a:spcPct val="100000"/>
              </a:lnSpc>
              <a:buFont typeface="Arial MT"/>
              <a:buChar char="•"/>
              <a:tabLst>
                <a:tab pos="184785" algn="l"/>
              </a:tabLst>
            </a:pPr>
            <a:r>
              <a:rPr lang="en-IN" sz="2400" dirty="0">
                <a:latin typeface="Times New Roman"/>
                <a:cs typeface="Times New Roman"/>
              </a:rPr>
              <a:t>Columns</a:t>
            </a:r>
            <a:r>
              <a:rPr lang="en-IN" sz="2400" spc="-30" dirty="0">
                <a:latin typeface="Times New Roman"/>
                <a:cs typeface="Times New Roman"/>
              </a:rPr>
              <a:t> </a:t>
            </a:r>
            <a:r>
              <a:rPr lang="en-IN" sz="2400" dirty="0">
                <a:latin typeface="Times New Roman"/>
                <a:cs typeface="Times New Roman"/>
              </a:rPr>
              <a:t>include</a:t>
            </a:r>
            <a:r>
              <a:rPr lang="en-IN" sz="2400" spc="-40" dirty="0">
                <a:latin typeface="Times New Roman"/>
                <a:cs typeface="Times New Roman"/>
              </a:rPr>
              <a:t> </a:t>
            </a:r>
            <a:r>
              <a:rPr lang="en-IN" sz="2400" spc="-50" dirty="0">
                <a:latin typeface="Times New Roman"/>
                <a:cs typeface="Times New Roman"/>
              </a:rPr>
              <a:t>: </a:t>
            </a:r>
            <a:r>
              <a:rPr lang="en-IN" sz="2400" spc="-10" dirty="0">
                <a:latin typeface="Times New Roman"/>
                <a:cs typeface="Times New Roman"/>
              </a:rPr>
              <a:t>Brand, Capacity(in L), Door Type, Stars, Price. Ratings.</a:t>
            </a:r>
            <a:endParaRPr lang="en-IN" sz="2400" dirty="0">
              <a:latin typeface="Times New Roman"/>
              <a:cs typeface="Times New Roman"/>
            </a:endParaRPr>
          </a:p>
          <a:p>
            <a:pPr marL="183515" indent="-170815">
              <a:lnSpc>
                <a:spcPct val="100000"/>
              </a:lnSpc>
              <a:buFont typeface="Arial MT"/>
              <a:buChar char="•"/>
              <a:tabLst>
                <a:tab pos="183515" algn="l"/>
              </a:tabLst>
            </a:pPr>
            <a:r>
              <a:rPr lang="en-IN" sz="2400" dirty="0">
                <a:latin typeface="Times New Roman"/>
                <a:cs typeface="Times New Roman"/>
              </a:rPr>
              <a:t>Data</a:t>
            </a:r>
            <a:r>
              <a:rPr lang="en-IN" sz="2400" spc="-25" dirty="0">
                <a:latin typeface="Times New Roman"/>
                <a:cs typeface="Times New Roman"/>
              </a:rPr>
              <a:t> </a:t>
            </a:r>
            <a:r>
              <a:rPr lang="en-IN" sz="2400" dirty="0">
                <a:latin typeface="Times New Roman"/>
                <a:cs typeface="Times New Roman"/>
              </a:rPr>
              <a:t>types</a:t>
            </a:r>
            <a:r>
              <a:rPr lang="en-IN" sz="2400" spc="-10" dirty="0">
                <a:latin typeface="Times New Roman"/>
                <a:cs typeface="Times New Roman"/>
              </a:rPr>
              <a:t> </a:t>
            </a:r>
            <a:r>
              <a:rPr lang="en-IN" sz="2400" dirty="0">
                <a:latin typeface="Times New Roman"/>
                <a:cs typeface="Times New Roman"/>
              </a:rPr>
              <a:t>are</a:t>
            </a:r>
            <a:r>
              <a:rPr lang="en-IN" sz="2400" spc="-20" dirty="0">
                <a:latin typeface="Times New Roman"/>
                <a:cs typeface="Times New Roman"/>
              </a:rPr>
              <a:t> 2</a:t>
            </a:r>
            <a:r>
              <a:rPr lang="en-IN" sz="2400" spc="-10" dirty="0">
                <a:latin typeface="Times New Roman"/>
                <a:cs typeface="Times New Roman"/>
              </a:rPr>
              <a:t> </a:t>
            </a:r>
            <a:r>
              <a:rPr lang="en-IN" sz="2400" dirty="0">
                <a:latin typeface="Times New Roman"/>
                <a:cs typeface="Times New Roman"/>
              </a:rPr>
              <a:t>categorical</a:t>
            </a:r>
            <a:r>
              <a:rPr lang="en-IN" sz="2400" spc="-50" dirty="0">
                <a:latin typeface="Times New Roman"/>
                <a:cs typeface="Times New Roman"/>
              </a:rPr>
              <a:t> </a:t>
            </a:r>
            <a:r>
              <a:rPr lang="en-IN" sz="2400" dirty="0">
                <a:latin typeface="Times New Roman"/>
                <a:cs typeface="Times New Roman"/>
              </a:rPr>
              <a:t>and</a:t>
            </a:r>
            <a:r>
              <a:rPr lang="en-IN" sz="2400" spc="-20" dirty="0">
                <a:latin typeface="Times New Roman"/>
                <a:cs typeface="Times New Roman"/>
              </a:rPr>
              <a:t> 4</a:t>
            </a:r>
            <a:r>
              <a:rPr lang="en-IN" sz="2400" spc="-5" dirty="0">
                <a:latin typeface="Times New Roman"/>
                <a:cs typeface="Times New Roman"/>
              </a:rPr>
              <a:t> </a:t>
            </a:r>
            <a:r>
              <a:rPr lang="en-IN" sz="2400" dirty="0">
                <a:latin typeface="Times New Roman"/>
                <a:cs typeface="Times New Roman"/>
              </a:rPr>
              <a:t>numerical</a:t>
            </a:r>
            <a:r>
              <a:rPr lang="en-IN" sz="2400" spc="-35" dirty="0">
                <a:latin typeface="Times New Roman"/>
                <a:cs typeface="Times New Roman"/>
              </a:rPr>
              <a:t> </a:t>
            </a:r>
            <a:r>
              <a:rPr lang="en-IN" sz="2400" spc="-10" dirty="0">
                <a:latin typeface="Times New Roman"/>
                <a:cs typeface="Times New Roman"/>
              </a:rPr>
              <a:t>columns.</a:t>
            </a:r>
          </a:p>
          <a:p>
            <a:pPr marL="12700">
              <a:lnSpc>
                <a:spcPct val="100000"/>
              </a:lnSpc>
              <a:tabLst>
                <a:tab pos="183515" algn="l"/>
              </a:tabLst>
            </a:pPr>
            <a:r>
              <a:rPr lang="en-IN" sz="2400" b="1" dirty="0">
                <a:latin typeface="Times New Roman"/>
                <a:cs typeface="Times New Roman"/>
              </a:rPr>
              <a:t> </a:t>
            </a:r>
          </a:p>
          <a:p>
            <a:pPr marL="12700">
              <a:lnSpc>
                <a:spcPct val="100000"/>
              </a:lnSpc>
              <a:tabLst>
                <a:tab pos="183515" algn="l"/>
              </a:tabLst>
            </a:pPr>
            <a:r>
              <a:rPr lang="en-IN" sz="2400" b="1" dirty="0">
                <a:latin typeface="Times New Roman"/>
                <a:cs typeface="Times New Roman"/>
              </a:rPr>
              <a:t> Categorical</a:t>
            </a:r>
            <a:r>
              <a:rPr lang="en-IN" sz="2400" b="1" spc="-60" dirty="0">
                <a:latin typeface="Times New Roman"/>
                <a:cs typeface="Times New Roman"/>
              </a:rPr>
              <a:t> </a:t>
            </a:r>
            <a:r>
              <a:rPr lang="en-IN" sz="2400" b="1" dirty="0">
                <a:latin typeface="Times New Roman"/>
                <a:cs typeface="Times New Roman"/>
              </a:rPr>
              <a:t>variables:</a:t>
            </a:r>
            <a:r>
              <a:rPr lang="en-IN" sz="2400" b="1" spc="-50" dirty="0">
                <a:latin typeface="Times New Roman"/>
                <a:cs typeface="Times New Roman"/>
              </a:rPr>
              <a:t> </a:t>
            </a:r>
            <a:r>
              <a:rPr lang="en-IN" sz="2400" spc="-50" dirty="0">
                <a:latin typeface="Times New Roman"/>
                <a:cs typeface="Times New Roman"/>
              </a:rPr>
              <a:t>Brand </a:t>
            </a:r>
            <a:r>
              <a:rPr lang="en-IN" sz="2400" dirty="0">
                <a:latin typeface="Times New Roman"/>
                <a:cs typeface="Times New Roman"/>
              </a:rPr>
              <a:t>, Door Type.</a:t>
            </a:r>
          </a:p>
          <a:p>
            <a:pPr marL="12700">
              <a:lnSpc>
                <a:spcPct val="100000"/>
              </a:lnSpc>
              <a:tabLst>
                <a:tab pos="183515" algn="l"/>
              </a:tabLst>
            </a:pPr>
            <a:r>
              <a:rPr lang="en-IN" sz="2400" b="1" dirty="0">
                <a:latin typeface="Times New Roman"/>
                <a:cs typeface="Times New Roman"/>
              </a:rPr>
              <a:t> Numerical</a:t>
            </a:r>
            <a:r>
              <a:rPr lang="en-IN" sz="2400" b="1" spc="-60" dirty="0">
                <a:latin typeface="Times New Roman"/>
                <a:cs typeface="Times New Roman"/>
              </a:rPr>
              <a:t>   </a:t>
            </a:r>
            <a:r>
              <a:rPr lang="en-IN" sz="2400" b="1" spc="-10" dirty="0">
                <a:latin typeface="Times New Roman"/>
                <a:cs typeface="Times New Roman"/>
              </a:rPr>
              <a:t>variables: </a:t>
            </a:r>
            <a:r>
              <a:rPr lang="en-IN" sz="2400" spc="-10" dirty="0">
                <a:latin typeface="Times New Roman"/>
                <a:cs typeface="Times New Roman"/>
              </a:rPr>
              <a:t>Capacity(in L), Stars, Price, Ratings</a:t>
            </a:r>
            <a:endParaRPr lang="en-IN" sz="2400" dirty="0">
              <a:latin typeface="Times New Roman"/>
              <a:cs typeface="Times New Roman"/>
            </a:endParaRPr>
          </a:p>
        </p:txBody>
      </p:sp>
    </p:spTree>
    <p:extLst>
      <p:ext uri="{BB962C8B-B14F-4D97-AF65-F5344CB8AC3E}">
        <p14:creationId xmlns:p14="http://schemas.microsoft.com/office/powerpoint/2010/main" val="1821368389"/>
      </p:ext>
    </p:extLst>
  </p:cSld>
  <p:clrMapOvr>
    <a:overrideClrMapping bg1="lt1" tx1="dk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296" y="173101"/>
            <a:ext cx="3852672" cy="741299"/>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IN" sz="2800" dirty="0">
                <a:solidFill>
                  <a:schemeClr val="accent5">
                    <a:lumMod val="50000"/>
                  </a:schemeClr>
                </a:solidFill>
                <a:latin typeface="Arial Black" panose="020B0A04020102020204" pitchFamily="34" charset="0"/>
              </a:rPr>
              <a:t>Basic Checks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489" y="3521363"/>
            <a:ext cx="3972479" cy="3143689"/>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489" y="1024128"/>
            <a:ext cx="3819112" cy="2267712"/>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35775" y="771409"/>
            <a:ext cx="4872817" cy="2520431"/>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01" y="3323602"/>
            <a:ext cx="5802978" cy="2900257"/>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28399" y="771409"/>
            <a:ext cx="2562583" cy="2448267"/>
          </a:xfrm>
          <a:prstGeom prst="rect">
            <a:avLst/>
          </a:prstGeom>
        </p:spPr>
      </p:pic>
    </p:spTree>
    <p:extLst>
      <p:ext uri="{BB962C8B-B14F-4D97-AF65-F5344CB8AC3E}">
        <p14:creationId xmlns:p14="http://schemas.microsoft.com/office/powerpoint/2010/main" val="1933374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 y="81661"/>
            <a:ext cx="11667744" cy="741299"/>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US" sz="2800" dirty="0">
                <a:solidFill>
                  <a:schemeClr val="accent5">
                    <a:lumMod val="50000"/>
                  </a:schemeClr>
                </a:solidFill>
                <a:latin typeface="Arial Black" panose="020B0A04020102020204" pitchFamily="34" charset="0"/>
              </a:rPr>
              <a:t>Preprocessing Techniques on Dataset Individual Columns</a:t>
            </a:r>
            <a:endParaRPr lang="en-IN" sz="2800" dirty="0">
              <a:solidFill>
                <a:schemeClr val="accent5">
                  <a:lumMod val="50000"/>
                </a:schemeClr>
              </a:solidFill>
              <a:latin typeface="Arial Black" panose="020B0A04020102020204" pitchFamily="34" charset="0"/>
            </a:endParaRPr>
          </a:p>
        </p:txBody>
      </p:sp>
      <p:sp>
        <p:nvSpPr>
          <p:cNvPr id="3" name="Text Placeholder 2"/>
          <p:cNvSpPr>
            <a:spLocks noGrp="1"/>
          </p:cNvSpPr>
          <p:nvPr>
            <p:ph type="body" idx="1"/>
          </p:nvPr>
        </p:nvSpPr>
        <p:spPr>
          <a:xfrm>
            <a:off x="73152" y="887783"/>
            <a:ext cx="4623816" cy="789559"/>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pPr>
              <a:spcBef>
                <a:spcPts val="0"/>
              </a:spcBef>
              <a:buFont typeface="Calibri"/>
              <a:buNone/>
            </a:pPr>
            <a:r>
              <a:rPr lang="en-IN" dirty="0">
                <a:solidFill>
                  <a:schemeClr val="accent5">
                    <a:lumMod val="50000"/>
                  </a:schemeClr>
                </a:solidFill>
                <a:latin typeface="Arial Black" panose="020B0A04020102020204" pitchFamily="34" charset="0"/>
              </a:rPr>
              <a:t>Checking Null Values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256" y="1810512"/>
            <a:ext cx="2095792" cy="1971950"/>
          </a:xfrm>
          <a:prstGeom prst="rect">
            <a:avLst/>
          </a:prstGeom>
        </p:spPr>
      </p:pic>
      <p:sp>
        <p:nvSpPr>
          <p:cNvPr id="5" name="TextBox 4"/>
          <p:cNvSpPr txBox="1"/>
          <p:nvPr/>
        </p:nvSpPr>
        <p:spPr>
          <a:xfrm>
            <a:off x="549256" y="3987245"/>
            <a:ext cx="2432304" cy="1938992"/>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data set missing values</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Columns Rating, Doors, Stars have missing values.</a:t>
            </a:r>
          </a:p>
        </p:txBody>
      </p:sp>
      <p:sp>
        <p:nvSpPr>
          <p:cNvPr id="9" name="TextBox 8"/>
          <p:cNvSpPr txBox="1"/>
          <p:nvPr/>
        </p:nvSpPr>
        <p:spPr>
          <a:xfrm flipH="1">
            <a:off x="6062472" y="914056"/>
            <a:ext cx="5266945" cy="480131"/>
          </a:xfrm>
          <a:prstGeom prst="rect">
            <a:avLst/>
          </a:prstGeo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indent="-342900">
              <a:lnSpc>
                <a:spcPct val="90000"/>
              </a:lnSpc>
              <a:buClr>
                <a:schemeClr val="dk1"/>
              </a:buClr>
              <a:buSzPts val="1800"/>
              <a:buFont typeface="Calibri"/>
              <a:buNone/>
              <a:defRPr sz="2800">
                <a:solidFill>
                  <a:schemeClr val="accent5">
                    <a:lumMod val="50000"/>
                  </a:schemeClr>
                </a:solidFill>
                <a:latin typeface="Arial Black" panose="020B0A04020102020204" pitchFamily="34" charset="0"/>
                <a:ea typeface="Calibri"/>
                <a:cs typeface="Calibri"/>
                <a:sym typeface="Calibri"/>
              </a:defRPr>
            </a:lvl1pPr>
            <a:lvl2pPr marL="914400" indent="-342900">
              <a:lnSpc>
                <a:spcPct val="90000"/>
              </a:lnSpc>
              <a:spcBef>
                <a:spcPts val="500"/>
              </a:spcBef>
              <a:buClr>
                <a:schemeClr val="dk1"/>
              </a:buClr>
              <a:buSzPts val="1800"/>
              <a:buChar char="•"/>
              <a:defRPr sz="2400">
                <a:solidFill>
                  <a:schemeClr val="dk1"/>
                </a:solidFill>
                <a:latin typeface="Calibri"/>
                <a:ea typeface="Calibri"/>
                <a:cs typeface="Calibri"/>
                <a:sym typeface="Calibri"/>
              </a:defRPr>
            </a:lvl2pPr>
            <a:lvl3pPr marL="1371600" indent="-342900">
              <a:lnSpc>
                <a:spcPct val="90000"/>
              </a:lnSpc>
              <a:spcBef>
                <a:spcPts val="500"/>
              </a:spcBef>
              <a:buClr>
                <a:schemeClr val="dk1"/>
              </a:buClr>
              <a:buSzPts val="1800"/>
              <a:buChar char="•"/>
              <a:defRPr sz="2000">
                <a:solidFill>
                  <a:schemeClr val="dk1"/>
                </a:solidFill>
                <a:latin typeface="Calibri"/>
                <a:ea typeface="Calibri"/>
                <a:cs typeface="Calibri"/>
                <a:sym typeface="Calibri"/>
              </a:defRPr>
            </a:lvl3pPr>
            <a:lvl4pPr marL="1828800" indent="-342900">
              <a:lnSpc>
                <a:spcPct val="90000"/>
              </a:lnSpc>
              <a:spcBef>
                <a:spcPts val="500"/>
              </a:spcBef>
              <a:buClr>
                <a:schemeClr val="dk1"/>
              </a:buClr>
              <a:buSzPts val="1800"/>
              <a:buChar char="•"/>
              <a:defRPr sz="1800">
                <a:solidFill>
                  <a:schemeClr val="dk1"/>
                </a:solidFill>
                <a:latin typeface="Calibri"/>
                <a:ea typeface="Calibri"/>
                <a:cs typeface="Calibri"/>
                <a:sym typeface="Calibri"/>
              </a:defRPr>
            </a:lvl4pPr>
            <a:lvl5pPr marL="2286000" indent="-342900">
              <a:lnSpc>
                <a:spcPct val="90000"/>
              </a:lnSpc>
              <a:spcBef>
                <a:spcPts val="500"/>
              </a:spcBef>
              <a:buClr>
                <a:schemeClr val="dk1"/>
              </a:buClr>
              <a:buSzPts val="1800"/>
              <a:buChar char="•"/>
              <a:defRPr sz="1800">
                <a:solidFill>
                  <a:schemeClr val="dk1"/>
                </a:solidFill>
                <a:latin typeface="Calibri"/>
                <a:ea typeface="Calibri"/>
                <a:cs typeface="Calibri"/>
                <a:sym typeface="Calibri"/>
              </a:defRPr>
            </a:lvl5pPr>
            <a:lvl6pPr marL="2743200" indent="-342900">
              <a:lnSpc>
                <a:spcPct val="90000"/>
              </a:lnSpc>
              <a:spcBef>
                <a:spcPts val="500"/>
              </a:spcBef>
              <a:buClr>
                <a:schemeClr val="dk1"/>
              </a:buClr>
              <a:buSzPts val="1800"/>
              <a:buChar char="•"/>
              <a:defRPr sz="1800">
                <a:solidFill>
                  <a:schemeClr val="dk1"/>
                </a:solidFill>
                <a:latin typeface="Calibri"/>
                <a:ea typeface="Calibri"/>
                <a:cs typeface="Calibri"/>
                <a:sym typeface="Calibri"/>
              </a:defRPr>
            </a:lvl6pPr>
            <a:lvl7pPr marL="3200400" indent="-342900">
              <a:lnSpc>
                <a:spcPct val="90000"/>
              </a:lnSpc>
              <a:spcBef>
                <a:spcPts val="500"/>
              </a:spcBef>
              <a:buClr>
                <a:schemeClr val="dk1"/>
              </a:buClr>
              <a:buSzPts val="1800"/>
              <a:buChar char="•"/>
              <a:defRPr sz="1800">
                <a:solidFill>
                  <a:schemeClr val="dk1"/>
                </a:solidFill>
                <a:latin typeface="Calibri"/>
                <a:ea typeface="Calibri"/>
                <a:cs typeface="Calibri"/>
                <a:sym typeface="Calibri"/>
              </a:defRPr>
            </a:lvl7pPr>
            <a:lvl8pPr marL="3657600" indent="-342900">
              <a:lnSpc>
                <a:spcPct val="90000"/>
              </a:lnSpc>
              <a:spcBef>
                <a:spcPts val="500"/>
              </a:spcBef>
              <a:buClr>
                <a:schemeClr val="dk1"/>
              </a:buClr>
              <a:buSzPts val="1800"/>
              <a:buChar char="•"/>
              <a:defRPr sz="1800">
                <a:solidFill>
                  <a:schemeClr val="dk1"/>
                </a:solidFill>
                <a:latin typeface="Calibri"/>
                <a:ea typeface="Calibri"/>
                <a:cs typeface="Calibri"/>
                <a:sym typeface="Calibri"/>
              </a:defRPr>
            </a:lvl8pPr>
            <a:lvl9pPr marL="4114800" indent="-342900">
              <a:lnSpc>
                <a:spcPct val="90000"/>
              </a:lnSpc>
              <a:spcBef>
                <a:spcPts val="500"/>
              </a:spcBef>
              <a:buClr>
                <a:schemeClr val="dk1"/>
              </a:buClr>
              <a:buSzPts val="1800"/>
              <a:buChar char="•"/>
              <a:defRPr sz="1800">
                <a:solidFill>
                  <a:schemeClr val="dk1"/>
                </a:solidFill>
                <a:latin typeface="Calibri"/>
                <a:ea typeface="Calibri"/>
                <a:cs typeface="Calibri"/>
                <a:sym typeface="Calibri"/>
              </a:defRPr>
            </a:lvl9pPr>
          </a:lstStyle>
          <a:p>
            <a:r>
              <a:rPr lang="en-IN" dirty="0"/>
              <a:t>Cleaning of null Value </a:t>
            </a:r>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8408" y="1677342"/>
            <a:ext cx="6750083" cy="3370146"/>
          </a:xfrm>
          <a:prstGeom prst="rect">
            <a:avLst/>
          </a:prstGeom>
        </p:spPr>
      </p:pic>
      <p:sp>
        <p:nvSpPr>
          <p:cNvPr id="11" name="Rectangle 10"/>
          <p:cNvSpPr/>
          <p:nvPr/>
        </p:nvSpPr>
        <p:spPr>
          <a:xfrm>
            <a:off x="4788408" y="5378650"/>
            <a:ext cx="6952488" cy="1077218"/>
          </a:xfrm>
          <a:prstGeom prst="rect">
            <a:avLst/>
          </a:prstGeom>
        </p:spPr>
        <p:txBody>
          <a:bodyPr wrap="square">
            <a:spAutoFit/>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Null Values in the columns are filled by mode, mean  of the values in the columns.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 The Data extract from webpage it give object data type. So data need to be converted. </a:t>
            </a:r>
          </a:p>
        </p:txBody>
      </p:sp>
    </p:spTree>
    <p:extLst>
      <p:ext uri="{BB962C8B-B14F-4D97-AF65-F5344CB8AC3E}">
        <p14:creationId xmlns:p14="http://schemas.microsoft.com/office/powerpoint/2010/main" val="3131551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3256" y="227965"/>
            <a:ext cx="10515600" cy="485267"/>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pPr marL="457200" indent="-342900"/>
            <a:r>
              <a:rPr lang="en-IN" sz="2800" dirty="0">
                <a:solidFill>
                  <a:schemeClr val="accent5">
                    <a:lumMod val="50000"/>
                  </a:schemeClr>
                </a:solidFill>
                <a:latin typeface="Arial Black" panose="020B0A04020102020204" pitchFamily="34" charset="0"/>
                <a:sym typeface="Arial"/>
              </a:rPr>
              <a:t>Checking Null Values After Preprocessing</a:t>
            </a:r>
          </a:p>
        </p:txBody>
      </p:sp>
      <p:sp>
        <p:nvSpPr>
          <p:cNvPr id="3" name="Text Placeholder 2"/>
          <p:cNvSpPr>
            <a:spLocks noGrp="1"/>
          </p:cNvSpPr>
          <p:nvPr>
            <p:ph type="body" idx="1"/>
          </p:nvPr>
        </p:nvSpPr>
        <p:spPr>
          <a:xfrm>
            <a:off x="416051" y="4263843"/>
            <a:ext cx="4117848" cy="1614107"/>
          </a:xfrm>
        </p:spPr>
        <p:txBody>
          <a:bodyPr>
            <a:normAutofit/>
          </a:bodyPr>
          <a:lstStyle/>
          <a:p>
            <a:r>
              <a:rPr lang="en-IN" sz="2400" dirty="0">
                <a:latin typeface="Times New Roman" panose="02020603050405020304" pitchFamily="18" charset="0"/>
                <a:cs typeface="Times New Roman" panose="02020603050405020304" pitchFamily="18" charset="0"/>
              </a:rPr>
              <a:t>The Missing values in the Ratings, Doors, Stars Columns are filled. </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47" y="1186839"/>
            <a:ext cx="2915057" cy="2553056"/>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0877" y="1186839"/>
            <a:ext cx="4029637" cy="3077004"/>
          </a:xfrm>
          <a:prstGeom prst="rect">
            <a:avLst/>
          </a:prstGeom>
        </p:spPr>
      </p:pic>
      <p:sp>
        <p:nvSpPr>
          <p:cNvPr id="8" name="TextBox 7"/>
          <p:cNvSpPr txBox="1"/>
          <p:nvPr/>
        </p:nvSpPr>
        <p:spPr>
          <a:xfrm>
            <a:off x="6118859" y="4470731"/>
            <a:ext cx="4233672" cy="1200329"/>
          </a:xfrm>
          <a:prstGeom prst="rect">
            <a:avLst/>
          </a:prstGeom>
          <a:noFill/>
        </p:spPr>
        <p:txBody>
          <a:bodyPr wrap="square" rtlCol="0">
            <a:spAutoFit/>
          </a:bodyPr>
          <a:lstStyle/>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Info Show there are no null values and the data type of the columns are changed.</a:t>
            </a:r>
          </a:p>
        </p:txBody>
      </p:sp>
    </p:spTree>
    <p:extLst>
      <p:ext uri="{BB962C8B-B14F-4D97-AF65-F5344CB8AC3E}">
        <p14:creationId xmlns:p14="http://schemas.microsoft.com/office/powerpoint/2010/main" val="433008742"/>
      </p:ext>
    </p:extLst>
  </p:cSld>
  <p:clrMapOvr>
    <a:overrideClrMapping bg1="lt1" tx1="dk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408" y="200533"/>
            <a:ext cx="7299960" cy="585851"/>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US" sz="2800" dirty="0">
                <a:solidFill>
                  <a:schemeClr val="accent5">
                    <a:lumMod val="50000"/>
                  </a:schemeClr>
                </a:solidFill>
                <a:latin typeface="Arial Black" panose="020B0A04020102020204" pitchFamily="34" charset="0"/>
              </a:rPr>
              <a:t>Data Analysis Using Visualizations</a:t>
            </a:r>
            <a:endParaRPr lang="en-IN" sz="2800" dirty="0">
              <a:solidFill>
                <a:schemeClr val="accent5">
                  <a:lumMod val="50000"/>
                </a:schemeClr>
              </a:solidFill>
              <a:latin typeface="Arial Black" panose="020B0A04020102020204" pitchFamily="34" charset="0"/>
            </a:endParaRPr>
          </a:p>
        </p:txBody>
      </p:sp>
      <p:sp>
        <p:nvSpPr>
          <p:cNvPr id="3" name="Text Placeholder 2"/>
          <p:cNvSpPr>
            <a:spLocks noGrp="1"/>
          </p:cNvSpPr>
          <p:nvPr>
            <p:ph type="body" idx="1"/>
          </p:nvPr>
        </p:nvSpPr>
        <p:spPr>
          <a:xfrm>
            <a:off x="216408" y="1012791"/>
            <a:ext cx="5169408" cy="731521"/>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pPr>
              <a:spcBef>
                <a:spcPts val="0"/>
              </a:spcBef>
              <a:buFont typeface="Calibri"/>
              <a:buNone/>
            </a:pPr>
            <a:r>
              <a:rPr lang="en-US" dirty="0">
                <a:solidFill>
                  <a:schemeClr val="accent5">
                    <a:lumMod val="50000"/>
                  </a:schemeClr>
                </a:solidFill>
                <a:latin typeface="Arial Black" panose="020B0A04020102020204" pitchFamily="34" charset="0"/>
              </a:rPr>
              <a:t>Univariate Analysis</a:t>
            </a:r>
            <a:endParaRPr lang="en-IN" dirty="0">
              <a:solidFill>
                <a:schemeClr val="accent5">
                  <a:lumMod val="50000"/>
                </a:schemeClr>
              </a:solidFill>
              <a:latin typeface="Arial Black" panose="020B0A040201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6440" y="921352"/>
            <a:ext cx="5367528" cy="3664993"/>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408" y="1855937"/>
            <a:ext cx="3787468" cy="2931576"/>
          </a:xfrm>
          <a:prstGeom prst="rect">
            <a:avLst/>
          </a:prstGeom>
        </p:spPr>
      </p:pic>
      <p:sp>
        <p:nvSpPr>
          <p:cNvPr id="7" name="Rectangle 1"/>
          <p:cNvSpPr>
            <a:spLocks noChangeArrowheads="1"/>
          </p:cNvSpPr>
          <p:nvPr/>
        </p:nvSpPr>
        <p:spPr bwMode="auto">
          <a:xfrm>
            <a:off x="279490" y="4904339"/>
            <a:ext cx="539893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Double Door (~49%) and Single Door (~48%) together account for nearly the entire market.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Triple Door (~2%) and French Door (~0.1%) have extremely small shares.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confirms that consumer preference is highly concentrated on affordable and practical models.</a:t>
            </a:r>
          </a:p>
        </p:txBody>
      </p:sp>
      <p:sp>
        <p:nvSpPr>
          <p:cNvPr id="8" name="Rectangle 2"/>
          <p:cNvSpPr>
            <a:spLocks noChangeArrowheads="1"/>
          </p:cNvSpPr>
          <p:nvPr/>
        </p:nvSpPr>
        <p:spPr bwMode="auto">
          <a:xfrm>
            <a:off x="6099048" y="4586345"/>
            <a:ext cx="5202936"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Most refrigerators fall between 2-star and 4-star ratings.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median rating is around 3 stars, indicating moderate energy efficiency across products.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Few refrigerators reach 5 stars, suggesting premium energy-efficient models are limited.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Consumers appear to prefer mid-range energy ratings over high-cost efficient models.</a:t>
            </a:r>
          </a:p>
        </p:txBody>
      </p:sp>
    </p:spTree>
    <p:extLst>
      <p:ext uri="{BB962C8B-B14F-4D97-AF65-F5344CB8AC3E}">
        <p14:creationId xmlns:p14="http://schemas.microsoft.com/office/powerpoint/2010/main" val="3880824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370" y="260884"/>
            <a:ext cx="11658246" cy="3703320"/>
          </a:xfrm>
          <a:prstGeom prst="rect">
            <a:avLst/>
          </a:prstGeom>
        </p:spPr>
      </p:pic>
      <p:sp>
        <p:nvSpPr>
          <p:cNvPr id="6" name="Rectangle 1"/>
          <p:cNvSpPr>
            <a:spLocks noGrp="1" noChangeArrowheads="1"/>
          </p:cNvSpPr>
          <p:nvPr>
            <p:ph type="body" idx="1"/>
          </p:nvPr>
        </p:nvSpPr>
        <p:spPr bwMode="auto">
          <a:xfrm>
            <a:off x="546354" y="4287042"/>
            <a:ext cx="8679942"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Samsung, LG, Whirlpool, Godrej, and Haier are the most dominant brands.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Some brands show very low product counts, indicating weak presence or niche targeting.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Market competition is led by a few strong multinational brands.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Smaller brands may struggle due to limited model variety or brand recognition.</a:t>
            </a:r>
          </a:p>
        </p:txBody>
      </p:sp>
    </p:spTree>
    <p:extLst>
      <p:ext uri="{BB962C8B-B14F-4D97-AF65-F5344CB8AC3E}">
        <p14:creationId xmlns:p14="http://schemas.microsoft.com/office/powerpoint/2010/main" val="2469965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174" y="441467"/>
            <a:ext cx="5111142" cy="3538727"/>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1576" y="118872"/>
            <a:ext cx="6051364" cy="3538727"/>
          </a:xfrm>
          <a:prstGeom prst="rect">
            <a:avLst/>
          </a:prstGeom>
        </p:spPr>
      </p:pic>
      <p:sp>
        <p:nvSpPr>
          <p:cNvPr id="6" name="Rectangle 1"/>
          <p:cNvSpPr>
            <a:spLocks noGrp="1" noChangeArrowheads="1"/>
          </p:cNvSpPr>
          <p:nvPr>
            <p:ph type="body" idx="1"/>
          </p:nvPr>
        </p:nvSpPr>
        <p:spPr bwMode="auto">
          <a:xfrm>
            <a:off x="884238" y="4152058"/>
            <a:ext cx="43918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Double Door and Single Door refrigerators dominate the market, making up the majority of products.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Triple Door models are very limited, indicating lower demand or premium positioning.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French Door refrigerators are almost negligible, suggesting niche or high-end category.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Market demand strongly favors simpler and mid-range door configurations.</a:t>
            </a:r>
          </a:p>
        </p:txBody>
      </p:sp>
      <p:sp>
        <p:nvSpPr>
          <p:cNvPr id="7" name="Rectangle 2"/>
          <p:cNvSpPr>
            <a:spLocks noChangeArrowheads="1"/>
          </p:cNvSpPr>
          <p:nvPr/>
        </p:nvSpPr>
        <p:spPr bwMode="auto">
          <a:xfrm>
            <a:off x="6163056" y="4103304"/>
            <a:ext cx="5522976"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price distribution is right-skewed, meaning most refrigerators are affordable, with fewer premium products.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majority of refrigerators are priced between ₹15,000 and ₹45,000, targeting mid-range buyers.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small number of models fall in very high price ranges, forming luxury outliers.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suggests the market is mass-oriented with limited high-end offerings.</a:t>
            </a:r>
          </a:p>
        </p:txBody>
      </p:sp>
    </p:spTree>
    <p:extLst>
      <p:ext uri="{BB962C8B-B14F-4D97-AF65-F5344CB8AC3E}">
        <p14:creationId xmlns:p14="http://schemas.microsoft.com/office/powerpoint/2010/main" val="1422950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57784" y="292607"/>
            <a:ext cx="3913632" cy="722377"/>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pPr>
              <a:spcBef>
                <a:spcPts val="0"/>
              </a:spcBef>
              <a:buFont typeface="Calibri"/>
              <a:buNone/>
            </a:pPr>
            <a:r>
              <a:rPr lang="en-US" dirty="0">
                <a:solidFill>
                  <a:schemeClr val="accent5">
                    <a:lumMod val="50000"/>
                  </a:schemeClr>
                </a:solidFill>
                <a:latin typeface="Arial Black" panose="020B0A04020102020204" pitchFamily="34" charset="0"/>
              </a:rPr>
              <a:t>Bivariate Analysis</a:t>
            </a:r>
            <a:endParaRPr lang="en-IN" dirty="0">
              <a:solidFill>
                <a:schemeClr val="accent5">
                  <a:lumMod val="50000"/>
                </a:schemeClr>
              </a:solidFill>
              <a:latin typeface="Arial Black" panose="020B0A040201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316" y="1170432"/>
            <a:ext cx="10941963" cy="3551228"/>
          </a:xfrm>
          <a:prstGeom prst="rect">
            <a:avLst/>
          </a:prstGeom>
        </p:spPr>
      </p:pic>
      <p:sp>
        <p:nvSpPr>
          <p:cNvPr id="5" name="Rectangle 1"/>
          <p:cNvSpPr>
            <a:spLocks noChangeArrowheads="1"/>
          </p:cNvSpPr>
          <p:nvPr/>
        </p:nvSpPr>
        <p:spPr bwMode="auto">
          <a:xfrm>
            <a:off x="557784" y="4993527"/>
            <a:ext cx="10579608"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Most brands maintain ratings above 4.0, indicating overall strong customer satisfaction.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Premium brands such as Samsung, LG, Bosch, and Whirlpool show consistently high ratings.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few brands display slightly lower ratings, indicating areas for quality improvement.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Brand reputation positively impacts customer trust and perceived reliability.</a:t>
            </a:r>
          </a:p>
        </p:txBody>
      </p:sp>
    </p:spTree>
    <p:extLst>
      <p:ext uri="{BB962C8B-B14F-4D97-AF65-F5344CB8AC3E}">
        <p14:creationId xmlns:p14="http://schemas.microsoft.com/office/powerpoint/2010/main" val="3378027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692" y="1175564"/>
            <a:ext cx="5355604" cy="4359758"/>
          </a:xfrm>
          <a:prstGeom prst="rect">
            <a:avLst/>
          </a:prstGeom>
        </p:spPr>
      </p:pic>
      <p:sp>
        <p:nvSpPr>
          <p:cNvPr id="9" name="Rectangle 1"/>
          <p:cNvSpPr>
            <a:spLocks noChangeArrowheads="1"/>
          </p:cNvSpPr>
          <p:nvPr/>
        </p:nvSpPr>
        <p:spPr bwMode="auto">
          <a:xfrm>
            <a:off x="6199632" y="2201281"/>
            <a:ext cx="446227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a clear upward trend showing price increases with capacity.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refrigerators fall between 1,50L–2,50L capacity and ₹15,000–₹60,000 price range, indicating the core market.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High-capacity refrigerators (500L+) enter premium price tiers, sometimes exceeding ₹100,000.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Outliers represent luxury or commercial-grade refrigerators.</a:t>
            </a:r>
          </a:p>
        </p:txBody>
      </p:sp>
    </p:spTree>
    <p:extLst>
      <p:ext uri="{BB962C8B-B14F-4D97-AF65-F5344CB8AC3E}">
        <p14:creationId xmlns:p14="http://schemas.microsoft.com/office/powerpoint/2010/main" val="566278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609" y="944177"/>
            <a:ext cx="5668394" cy="4444840"/>
          </a:xfrm>
          <a:prstGeom prst="rect">
            <a:avLst/>
          </a:prstGeom>
        </p:spPr>
      </p:pic>
      <p:sp>
        <p:nvSpPr>
          <p:cNvPr id="5" name="Rectangle 1"/>
          <p:cNvSpPr>
            <a:spLocks noChangeArrowheads="1"/>
          </p:cNvSpPr>
          <p:nvPr/>
        </p:nvSpPr>
        <p:spPr bwMode="auto">
          <a:xfrm>
            <a:off x="6327648" y="1553462"/>
            <a:ext cx="4828032"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There is a strong positive relationship between capacity and price across all door types.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Double Door refrigerators dominate the mid-range capacity and price segment, making them the most popular choice.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Single Door refrigerators cluster in lower capacity and budget price ranges, suitable for small households.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Triple Door and French Door models appear in the high-capacity and premium price range, targeting high-end customers.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Premium outliers indicate luxury refrigerators with very high price and large storage.</a:t>
            </a:r>
          </a:p>
        </p:txBody>
      </p:sp>
    </p:spTree>
    <p:extLst>
      <p:ext uri="{BB962C8B-B14F-4D97-AF65-F5344CB8AC3E}">
        <p14:creationId xmlns:p14="http://schemas.microsoft.com/office/powerpoint/2010/main" val="2041130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395" y="347472"/>
            <a:ext cx="5436733" cy="410565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1950" y="210313"/>
            <a:ext cx="5452330" cy="3913632"/>
          </a:xfrm>
          <a:prstGeom prst="rect">
            <a:avLst/>
          </a:prstGeom>
        </p:spPr>
      </p:pic>
      <p:sp>
        <p:nvSpPr>
          <p:cNvPr id="7" name="Rectangle 6"/>
          <p:cNvSpPr/>
          <p:nvPr/>
        </p:nvSpPr>
        <p:spPr>
          <a:xfrm>
            <a:off x="668054" y="4667512"/>
            <a:ext cx="5184106" cy="1846659"/>
          </a:xfrm>
          <a:prstGeom prst="rect">
            <a:avLst/>
          </a:prstGeom>
        </p:spPr>
        <p:txBody>
          <a:bodyPr wrap="square">
            <a:spAutoFit/>
          </a:bodyPr>
          <a:lstStyle/>
          <a:p>
            <a:pPr lvl="0" eaLnBrk="0" fontAlgn="base" hangingPunct="0">
              <a:spcBef>
                <a:spcPct val="0"/>
              </a:spcBef>
              <a:spcAft>
                <a:spcPct val="0"/>
              </a:spcAft>
              <a:buClrTx/>
              <a:buFontTx/>
              <a:buChar char="•"/>
            </a:pPr>
            <a:r>
              <a:rPr lang="en-US" sz="1600" dirty="0">
                <a:solidFill>
                  <a:schemeClr val="tx1"/>
                </a:solidFill>
                <a:latin typeface="Times New Roman" panose="02020603050405020304" pitchFamily="18" charset="0"/>
                <a:cs typeface="Times New Roman" panose="02020603050405020304" pitchFamily="18" charset="0"/>
              </a:rPr>
              <a:t>  Most refrigerators fall between 2-star and 4-star ratings.</a:t>
            </a:r>
          </a:p>
          <a:p>
            <a:pPr lvl="0" eaLnBrk="0" fontAlgn="base" hangingPunct="0">
              <a:spcBef>
                <a:spcPct val="0"/>
              </a:spcBef>
              <a:spcAft>
                <a:spcPct val="0"/>
              </a:spcAft>
              <a:buClrTx/>
              <a:buFontTx/>
              <a:buChar char="•"/>
            </a:pPr>
            <a:r>
              <a:rPr lang="en-US" sz="1600" dirty="0">
                <a:solidFill>
                  <a:schemeClr val="tx1"/>
                </a:solidFill>
                <a:latin typeface="Times New Roman" panose="02020603050405020304" pitchFamily="18" charset="0"/>
                <a:cs typeface="Times New Roman" panose="02020603050405020304" pitchFamily="18" charset="0"/>
              </a:rPr>
              <a:t>  The median rating is around 3 stars, indicating moderate energy efficiency across products.</a:t>
            </a:r>
          </a:p>
          <a:p>
            <a:pPr lvl="0" eaLnBrk="0" fontAlgn="base" hangingPunct="0">
              <a:spcBef>
                <a:spcPct val="0"/>
              </a:spcBef>
              <a:spcAft>
                <a:spcPct val="0"/>
              </a:spcAft>
              <a:buClrTx/>
              <a:buFontTx/>
              <a:buChar char="•"/>
            </a:pPr>
            <a:r>
              <a:rPr lang="en-US" sz="1600" dirty="0">
                <a:solidFill>
                  <a:schemeClr val="tx1"/>
                </a:solidFill>
                <a:latin typeface="Times New Roman" panose="02020603050405020304" pitchFamily="18" charset="0"/>
                <a:cs typeface="Times New Roman" panose="02020603050405020304" pitchFamily="18" charset="0"/>
              </a:rPr>
              <a:t>  Few refrigerators </a:t>
            </a:r>
            <a:r>
              <a:rPr lang="en-US" sz="1800" dirty="0">
                <a:solidFill>
                  <a:schemeClr val="tx1"/>
                </a:solidFill>
                <a:latin typeface="Times New Roman" panose="02020603050405020304" pitchFamily="18" charset="0"/>
                <a:cs typeface="Times New Roman" panose="02020603050405020304" pitchFamily="18" charset="0"/>
              </a:rPr>
              <a:t>reach</a:t>
            </a:r>
            <a:r>
              <a:rPr lang="en-US" sz="1600" dirty="0">
                <a:solidFill>
                  <a:schemeClr val="tx1"/>
                </a:solidFill>
                <a:latin typeface="Times New Roman" panose="02020603050405020304" pitchFamily="18" charset="0"/>
                <a:cs typeface="Times New Roman" panose="02020603050405020304" pitchFamily="18" charset="0"/>
              </a:rPr>
              <a:t> 5 stars, suggesting premium energy-efficient models are limited.</a:t>
            </a:r>
          </a:p>
          <a:p>
            <a:pPr lvl="0" eaLnBrk="0" fontAlgn="base" hangingPunct="0">
              <a:spcBef>
                <a:spcPct val="0"/>
              </a:spcBef>
              <a:spcAft>
                <a:spcPct val="0"/>
              </a:spcAft>
              <a:buClrTx/>
              <a:buFontTx/>
              <a:buChar char="•"/>
            </a:pPr>
            <a:r>
              <a:rPr lang="en-US" sz="1600" dirty="0">
                <a:solidFill>
                  <a:schemeClr val="tx1"/>
                </a:solidFill>
                <a:latin typeface="Times New Roman" panose="02020603050405020304" pitchFamily="18" charset="0"/>
                <a:cs typeface="Times New Roman" panose="02020603050405020304" pitchFamily="18" charset="0"/>
              </a:rPr>
              <a:t>  Consumers appear to prefer mid-range energy ratings over high-cost efficient models.</a:t>
            </a:r>
          </a:p>
        </p:txBody>
      </p:sp>
      <p:sp>
        <p:nvSpPr>
          <p:cNvPr id="8" name="Rectangle 2"/>
          <p:cNvSpPr>
            <a:spLocks noChangeArrowheads="1"/>
          </p:cNvSpPr>
          <p:nvPr/>
        </p:nvSpPr>
        <p:spPr bwMode="auto">
          <a:xfrm>
            <a:off x="6471446" y="4288143"/>
            <a:ext cx="517801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Samsung, LG, and Haier sell the most expensive refrigerators, reflecting premium product positioning.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Budget-friendly brands such as Voltas, Godrej, Lloyd, and IFB focus on lower-priced segments.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Some brands show very limited price ranges, indicating fewer premium offerings.</a:t>
            </a:r>
          </a:p>
          <a:p>
            <a:pPr marL="0" marR="0" lvl="0" indent="0" algn="l" defTabSz="914400" rtl="0" eaLnBrk="0" fontAlgn="base" latinLnBrk="0" hangingPunct="0">
              <a:lnSpc>
                <a:spcPct val="100000"/>
              </a:lnSpc>
              <a:spcBef>
                <a:spcPct val="0"/>
              </a:spcBef>
              <a:spcAft>
                <a:spcPct val="0"/>
              </a:spcAft>
              <a:buClrTx/>
              <a:buSzTx/>
              <a:tabLst/>
            </a:pPr>
            <a:endPar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4899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48" y="400141"/>
            <a:ext cx="6611112" cy="378561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3368" y="206819"/>
            <a:ext cx="5225361" cy="3642805"/>
          </a:xfrm>
          <a:prstGeom prst="rect">
            <a:avLst/>
          </a:prstGeom>
        </p:spPr>
      </p:pic>
      <p:sp>
        <p:nvSpPr>
          <p:cNvPr id="6" name="Rectangle 1"/>
          <p:cNvSpPr>
            <a:spLocks noGrp="1" noChangeArrowheads="1"/>
          </p:cNvSpPr>
          <p:nvPr>
            <p:ph type="body" idx="1"/>
          </p:nvPr>
        </p:nvSpPr>
        <p:spPr bwMode="auto">
          <a:xfrm>
            <a:off x="838200" y="4238655"/>
            <a:ext cx="5288280"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2-star refrigerators show the highest price range, possibly due to high-capacity or premium older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4-star refrigerators appear to be the most affordable, offering strong energy efficiency at lower cost.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5-star models are priced moderately, balancing efficiency and cost.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Energy rating does not always directly correlate with price — capacity and brand also matter.</a:t>
            </a:r>
          </a:p>
        </p:txBody>
      </p:sp>
      <p:sp>
        <p:nvSpPr>
          <p:cNvPr id="7" name="Rectangle 2"/>
          <p:cNvSpPr>
            <a:spLocks noChangeArrowheads="1"/>
          </p:cNvSpPr>
          <p:nvPr/>
        </p:nvSpPr>
        <p:spPr bwMode="auto">
          <a:xfrm>
            <a:off x="6126480" y="3992434"/>
            <a:ext cx="606552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Double Door refrigerators have the highest average capacity, ideal for families.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Single Door models also show large capacity, but slightly less than double door.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French Door models show lower average capacity, possibly due to premium design trade-offs.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Glass Door refrigerators fall in mid-range capacity, likely targeting commercial or display use.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Door type strongly influences storage capacity and target user group.</a:t>
            </a:r>
          </a:p>
        </p:txBody>
      </p:sp>
    </p:spTree>
    <p:extLst>
      <p:ext uri="{BB962C8B-B14F-4D97-AF65-F5344CB8AC3E}">
        <p14:creationId xmlns:p14="http://schemas.microsoft.com/office/powerpoint/2010/main" val="3952375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408" y="256033"/>
            <a:ext cx="4684776" cy="795528"/>
          </a:xfrm>
          <a:solidFill>
            <a:schemeClr val="accent6">
              <a:lumMod val="20000"/>
              <a:lumOff val="80000"/>
            </a:schemeClr>
          </a:solidFill>
          <a:effectLst>
            <a:glow rad="101600">
              <a:schemeClr val="accent6">
                <a:satMod val="175000"/>
                <a:alpha val="40000"/>
              </a:schemeClr>
            </a:glow>
          </a:effectLst>
        </p:spPr>
        <p:txBody>
          <a:bodyPr>
            <a:normAutofit/>
          </a:bodyPr>
          <a:lstStyle/>
          <a:p>
            <a:r>
              <a:rPr lang="en-US" sz="2800" dirty="0">
                <a:solidFill>
                  <a:schemeClr val="accent5">
                    <a:lumMod val="50000"/>
                  </a:schemeClr>
                </a:solidFill>
                <a:latin typeface="Arial Black" panose="020B0A04020102020204" pitchFamily="34" charset="0"/>
              </a:rPr>
              <a:t>Multivariate Analysis</a:t>
            </a:r>
            <a:endParaRPr lang="en-IN" sz="2800" dirty="0">
              <a:solidFill>
                <a:schemeClr val="accent5">
                  <a:lumMod val="50000"/>
                </a:schemeClr>
              </a:solidFill>
              <a:latin typeface="Arial Black" panose="020B0A04020102020204" pitchFamily="34" charset="0"/>
            </a:endParaRPr>
          </a:p>
        </p:txBody>
      </p:sp>
      <p:sp>
        <p:nvSpPr>
          <p:cNvPr id="3" name="Text Placeholder 2"/>
          <p:cNvSpPr>
            <a:spLocks noGrp="1"/>
          </p:cNvSpPr>
          <p:nvPr>
            <p:ph type="body" idx="1"/>
          </p:nvPr>
        </p:nvSpPr>
        <p:spPr>
          <a:xfrm>
            <a:off x="216408" y="5058530"/>
            <a:ext cx="3084576" cy="1102043"/>
          </a:xfrm>
        </p:spPr>
        <p:txBody>
          <a:bodyPr/>
          <a:lstStyle/>
          <a:p>
            <a:endParaRPr lang="en-US" dirty="0"/>
          </a:p>
          <a:p>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408" y="1263771"/>
            <a:ext cx="5611295" cy="3582549"/>
          </a:xfrm>
          <a:prstGeom prst="rect">
            <a:avLst/>
          </a:prstGeom>
        </p:spPr>
      </p:pic>
      <p:sp>
        <p:nvSpPr>
          <p:cNvPr id="9" name="Rectangle 3"/>
          <p:cNvSpPr>
            <a:spLocks noChangeArrowheads="1"/>
          </p:cNvSpPr>
          <p:nvPr/>
        </p:nvSpPr>
        <p:spPr bwMode="auto">
          <a:xfrm>
            <a:off x="5992294" y="1900883"/>
            <a:ext cx="585832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Price increases as capacity increases, showing a strong positive relationship.</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Higher-capacity refrigerators tend to cost significantly more.</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Ratings remain mostly between 3.5 and 4.5, showing overall good customer satisfaction.</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Price does not strongly influence rating, suggesting users rate based on value rather than cost.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Some premium models have very high prices, indicating luxury or advanced features.</a:t>
            </a:r>
          </a:p>
        </p:txBody>
      </p:sp>
    </p:spTree>
    <p:extLst>
      <p:ext uri="{BB962C8B-B14F-4D97-AF65-F5344CB8AC3E}">
        <p14:creationId xmlns:p14="http://schemas.microsoft.com/office/powerpoint/2010/main" val="2187550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159" y="777240"/>
            <a:ext cx="5504693" cy="4617719"/>
          </a:xfrm>
          <a:prstGeom prst="rect">
            <a:avLst/>
          </a:prstGeom>
        </p:spPr>
      </p:pic>
      <p:sp>
        <p:nvSpPr>
          <p:cNvPr id="5" name="Rectangle 1"/>
          <p:cNvSpPr>
            <a:spLocks noGrp="1" noChangeArrowheads="1"/>
          </p:cNvSpPr>
          <p:nvPr>
            <p:ph type="body" idx="1"/>
          </p:nvPr>
        </p:nvSpPr>
        <p:spPr bwMode="auto">
          <a:xfrm>
            <a:off x="6337237" y="1690621"/>
            <a:ext cx="470871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Capacity and Price show a very strong positive correlation (~0.90), confirming that bigger refrigerators cost more.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Stars have a weak negative correlation with Price (-0.24), meaning energy rating does not significantly increase price.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Rating has almost no correlation with Price or Capacity, suggesting customer satisfaction is independent of cost.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Capacity does not strongly affect Ratings, implying larger size does not guarantee better customer experience.</a:t>
            </a:r>
          </a:p>
        </p:txBody>
      </p:sp>
    </p:spTree>
    <p:extLst>
      <p:ext uri="{BB962C8B-B14F-4D97-AF65-F5344CB8AC3E}">
        <p14:creationId xmlns:p14="http://schemas.microsoft.com/office/powerpoint/2010/main" val="4120237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02869"/>
            <a:ext cx="2398776" cy="567563"/>
          </a:xfrm>
          <a:solidFill>
            <a:schemeClr val="accent6">
              <a:lumMod val="20000"/>
              <a:lumOff val="80000"/>
            </a:schemeClr>
          </a:solidFill>
          <a:ln>
            <a:noFill/>
          </a:ln>
          <a:effectLst>
            <a:glow rad="101600">
              <a:schemeClr val="accent6">
                <a:satMod val="175000"/>
                <a:alpha val="40000"/>
              </a:schemeClr>
            </a:glow>
          </a:effectLst>
        </p:spPr>
        <p:txBody>
          <a:bodyPr spcFirstLastPara="1" wrap="square" lIns="91425" tIns="45700" rIns="91425" bIns="45700" anchor="ctr" anchorCtr="0">
            <a:normAutofit/>
          </a:bodyPr>
          <a:lstStyle/>
          <a:p>
            <a:r>
              <a:rPr lang="en-US" sz="2800" dirty="0">
                <a:solidFill>
                  <a:schemeClr val="accent5">
                    <a:lumMod val="50000"/>
                  </a:schemeClr>
                </a:solidFill>
                <a:latin typeface="Arial Black" panose="020B0A04020102020204" pitchFamily="34" charset="0"/>
              </a:rPr>
              <a:t>Conclusion</a:t>
            </a:r>
            <a:endParaRPr lang="en-IN" sz="2800" dirty="0">
              <a:solidFill>
                <a:schemeClr val="accent5">
                  <a:lumMod val="50000"/>
                </a:schemeClr>
              </a:solidFill>
              <a:latin typeface="Arial Black" panose="020B0A04020102020204" pitchFamily="34" charset="0"/>
            </a:endParaRPr>
          </a:p>
        </p:txBody>
      </p:sp>
      <p:sp>
        <p:nvSpPr>
          <p:cNvPr id="3" name="Text Placeholder 2"/>
          <p:cNvSpPr>
            <a:spLocks noGrp="1"/>
          </p:cNvSpPr>
          <p:nvPr>
            <p:ph type="body" idx="1"/>
          </p:nvPr>
        </p:nvSpPr>
        <p:spPr>
          <a:xfrm>
            <a:off x="838200" y="1527048"/>
            <a:ext cx="10515600" cy="4649915"/>
          </a:xfrm>
        </p:spPr>
        <p:txBody>
          <a:bodyPr>
            <a:normAutofit/>
          </a:bodyPr>
          <a:lstStyle/>
          <a:p>
            <a:r>
              <a:rPr lang="en-US" sz="2000" dirty="0">
                <a:latin typeface="Times New Roman" panose="02020603050405020304" pitchFamily="18" charset="0"/>
                <a:cs typeface="Times New Roman" panose="02020603050405020304" pitchFamily="18" charset="0"/>
              </a:rPr>
              <a:t>Successfully extracted real-time refrigerator data (brand, price, capacity, star rating, door type, compressor type, etc.) from an e-commerce platform using web scraping techniques, demonstrating practical data collection skills.</a:t>
            </a:r>
          </a:p>
          <a:p>
            <a:r>
              <a:rPr lang="en-US" sz="2000" dirty="0">
                <a:latin typeface="Times New Roman" panose="02020603050405020304" pitchFamily="18" charset="0"/>
                <a:cs typeface="Times New Roman" panose="02020603050405020304" pitchFamily="18" charset="0"/>
              </a:rPr>
              <a:t>Data cleaning and preprocessing helped handle missing values, remove duplicates, and standardize formats, improving data quality for accurate analysis.</a:t>
            </a:r>
          </a:p>
          <a:p>
            <a:r>
              <a:rPr lang="en-US" sz="2000" dirty="0">
                <a:latin typeface="Times New Roman" panose="02020603050405020304" pitchFamily="18" charset="0"/>
                <a:cs typeface="Times New Roman" panose="02020603050405020304" pitchFamily="18" charset="0"/>
              </a:rPr>
              <a:t>Exploratory Data Analysis revealed that price is strongly influenced by capacity, brand, and star rating, with higher energy-rated models generally costing more.</a:t>
            </a:r>
          </a:p>
          <a:p>
            <a:r>
              <a:rPr lang="en-US" sz="2000" dirty="0">
                <a:latin typeface="Times New Roman" panose="02020603050405020304" pitchFamily="18" charset="0"/>
                <a:cs typeface="Times New Roman" panose="02020603050405020304" pitchFamily="18" charset="0"/>
              </a:rPr>
              <a:t>Most refrigerators listed fall into double-door and 3-star/4-star categories, showing consumer preference for balanced energy efficiency and storage capacity.</a:t>
            </a:r>
          </a:p>
          <a:p>
            <a:r>
              <a:rPr lang="en-US" sz="2000" dirty="0">
                <a:latin typeface="Times New Roman" panose="02020603050405020304" pitchFamily="18" charset="0"/>
                <a:cs typeface="Times New Roman" panose="02020603050405020304" pitchFamily="18" charset="0"/>
              </a:rPr>
              <a:t>Premium brands tend to dominate the higher price segments, while budget brands focus on single-door and lower-capacity models.</a:t>
            </a:r>
          </a:p>
          <a:p>
            <a:r>
              <a:rPr lang="en-US" sz="2000" dirty="0">
                <a:latin typeface="Times New Roman" panose="02020603050405020304" pitchFamily="18" charset="0"/>
                <a:cs typeface="Times New Roman" panose="02020603050405020304" pitchFamily="18" charset="0"/>
              </a:rPr>
              <a:t>Visualization techniques (pie charts, bar graphs, histograms) made it easier to identify trends in door types, price ranges, and rating distribution.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65564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1657</TotalTime>
  <Words>1463</Words>
  <Application>Microsoft Office PowerPoint</Application>
  <PresentationFormat>Widescreen</PresentationFormat>
  <Paragraphs>109</Paragraphs>
  <Slides>21</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Baskerville Old Face</vt:lpstr>
      <vt:lpstr>Wingdings</vt:lpstr>
      <vt:lpstr>Times New Roman</vt:lpstr>
      <vt:lpstr>Arial</vt:lpstr>
      <vt:lpstr>Calibri</vt:lpstr>
      <vt:lpstr>Arial MT</vt:lpstr>
      <vt:lpstr>Arial Black</vt:lpstr>
      <vt:lpstr>Libre Baskerville</vt:lpstr>
      <vt:lpstr>Office Theme</vt:lpstr>
      <vt:lpstr>PowerPoint Presentation</vt:lpstr>
      <vt:lpstr>What is Web Scraping ? How it works ?</vt:lpstr>
      <vt:lpstr>Objective</vt:lpstr>
      <vt:lpstr>Website</vt:lpstr>
      <vt:lpstr>Extracting data for webpage</vt:lpstr>
      <vt:lpstr>Data set Overview</vt:lpstr>
      <vt:lpstr>Basic Checks</vt:lpstr>
      <vt:lpstr>Preprocessing Techniques on Dataset Individual Columns</vt:lpstr>
      <vt:lpstr>Checking Null Values After Preprocessing</vt:lpstr>
      <vt:lpstr>Data Analysis Using Visualizations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Multivariate Analysis</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AKHIL MAMINDLA</cp:lastModifiedBy>
  <cp:revision>29</cp:revision>
  <dcterms:created xsi:type="dcterms:W3CDTF">2021-02-16T05:19:01Z</dcterms:created>
  <dcterms:modified xsi:type="dcterms:W3CDTF">2026-02-18T05:33:14Z</dcterms:modified>
</cp:coreProperties>
</file>